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0793E6-F324-9E65-EA9A-31C980AC0B0B}" v="56" dt="2026-05-24T12:14:20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000000"/>
                </a:solidFill>
                <a:latin typeface="Arial"/>
              </a:rPr>
              <a:t>Class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8F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80-46E5-A970-CE3C1D3EE1DC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80-46E5-A970-CE3C1D3EE1D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80-46E5-A970-CE3C1D3EE1D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80-46E5-A970-CE3C1D3EE1D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Non-Churners (83.9%)</c:v>
                </c:pt>
                <c:pt idx="1">
                  <c:v>Churners (16.1%)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6799</c:v>
                </c:pt>
                <c:pt idx="1">
                  <c:v>1302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80-46E5-A970-CE3C1D3EE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Churn vs Non-Churn Averages (normalised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Churners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Balance</c:v>
                </c:pt>
                <c:pt idx="1">
                  <c:v>NPS</c:v>
                </c:pt>
                <c:pt idx="2">
                  <c:v>Satisfaction</c:v>
                </c:pt>
                <c:pt idx="3">
                  <c:v>Digital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6242</c:v>
                </c:pt>
                <c:pt idx="1">
                  <c:v>10</c:v>
                </c:pt>
                <c:pt idx="2">
                  <c:v>2.99</c:v>
                </c:pt>
                <c:pt idx="3">
                  <c:v>46.6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97-46E4-8F30-250CED4BAF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Non-Churners</c:v>
                </c:pt>
              </c:strCache>
            </c:strRef>
          </c:tx>
          <c:spPr>
            <a:solidFill>
              <a:srgbClr val="1A8FE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Balance</c:v>
                </c:pt>
                <c:pt idx="1">
                  <c:v>NPS</c:v>
                </c:pt>
                <c:pt idx="2">
                  <c:v>Satisfaction</c:v>
                </c:pt>
                <c:pt idx="3">
                  <c:v>Digital 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16930</c:v>
                </c:pt>
                <c:pt idx="1">
                  <c:v>38</c:v>
                </c:pt>
                <c:pt idx="2">
                  <c:v>3.75</c:v>
                </c:pt>
                <c:pt idx="3">
                  <c:v>52.8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97-46E4-8F30-250CED4BA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LightGBM Feature Importance (Top 10)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1A8FE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5B-4AB1-882C-C30AF8C961E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05B-4AB1-882C-C30AF8C961E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05B-4AB1-882C-C30AF8C961EA}"/>
              </c:ext>
            </c:extLst>
          </c:dPt>
          <c:dPt>
            <c:idx val="3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5B-4AB1-882C-C30AF8C961EA}"/>
              </c:ext>
            </c:extLst>
          </c:dPt>
          <c:dPt>
            <c:idx val="4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5B-4AB1-882C-C30AF8C961EA}"/>
              </c:ext>
            </c:extLst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05B-4AB1-882C-C30AF8C961EA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05B-4AB1-882C-C30AF8C961EA}"/>
              </c:ext>
            </c:extLst>
          </c:dPt>
          <c:dPt>
            <c:idx val="7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05B-4AB1-882C-C30AF8C961EA}"/>
              </c:ext>
            </c:extLst>
          </c:dPt>
          <c:dPt>
            <c:idx val="8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05B-4AB1-882C-C30AF8C961EA}"/>
              </c:ext>
            </c:extLst>
          </c:dPt>
          <c:dPt>
            <c:idx val="9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05B-4AB1-882C-C30AF8C961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balance decline percentage</c:v>
                </c:pt>
                <c:pt idx="1">
                  <c:v>customer lifetime value</c:v>
                </c:pt>
                <c:pt idx="2">
                  <c:v>total trans count</c:v>
                </c:pt>
                <c:pt idx="3">
                  <c:v>total digital logins</c:v>
                </c:pt>
                <c:pt idx="4">
                  <c:v>inactivity score</c:v>
                </c:pt>
                <c:pt idx="5">
                  <c:v>email open rate</c:v>
                </c:pt>
                <c:pt idx="6">
                  <c:v>cash withdrawal count</c:v>
                </c:pt>
                <c:pt idx="7">
                  <c:v>last campaign response days</c:v>
                </c:pt>
                <c:pt idx="8">
                  <c:v>complaint resolution time</c:v>
                </c:pt>
                <c:pt idx="9">
                  <c:v>relationship manager interaction count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626</c:v>
                </c:pt>
                <c:pt idx="1">
                  <c:v>483</c:v>
                </c:pt>
                <c:pt idx="2">
                  <c:v>425</c:v>
                </c:pt>
                <c:pt idx="3">
                  <c:v>408</c:v>
                </c:pt>
                <c:pt idx="4">
                  <c:v>408</c:v>
                </c:pt>
                <c:pt idx="5">
                  <c:v>382</c:v>
                </c:pt>
                <c:pt idx="6">
                  <c:v>295</c:v>
                </c:pt>
                <c:pt idx="7">
                  <c:v>291</c:v>
                </c:pt>
                <c:pt idx="8">
                  <c:v>262</c:v>
                </c:pt>
                <c:pt idx="9">
                  <c:v>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05B-4AB1-882C-C30AF8C961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97 Features across 8 Categories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B4-4531-AC09-B3979BFA6C70}"/>
              </c:ext>
            </c:extLst>
          </c:dPt>
          <c:dPt>
            <c:idx val="1"/>
            <c:bubble3D val="0"/>
            <c:spPr>
              <a:solidFill>
                <a:srgbClr val="1A8F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B4-4531-AC09-B3979BFA6C70}"/>
              </c:ext>
            </c:extLst>
          </c:dPt>
          <c:dPt>
            <c:idx val="2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B4-4531-AC09-B3979BFA6C70}"/>
              </c:ext>
            </c:extLst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B4-4531-AC09-B3979BFA6C70}"/>
              </c:ext>
            </c:extLst>
          </c:dPt>
          <c:dPt>
            <c:idx val="4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9B4-4531-AC09-B3979BFA6C70}"/>
              </c:ext>
            </c:extLst>
          </c:dPt>
          <c:dPt>
            <c:idx val="5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9B4-4531-AC09-B3979BFA6C70}"/>
              </c:ext>
            </c:extLst>
          </c:dPt>
          <c:dPt>
            <c:idx val="6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9B4-4531-AC09-B3979BFA6C70}"/>
              </c:ext>
            </c:extLst>
          </c:dPt>
          <c:dPt>
            <c:idx val="7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9B4-4531-AC09-B3979BFA6C70}"/>
              </c:ext>
            </c:extLst>
          </c:dPt>
          <c:cat>
            <c:strRef>
              <c:f>Sheet1!$A$2:$A$9</c:f>
              <c:strCache>
                <c:ptCount val="8"/>
                <c:pt idx="0">
                  <c:v>Customer Profile</c:v>
                </c:pt>
                <c:pt idx="1">
                  <c:v>Relationship &amp; Tenure</c:v>
                </c:pt>
                <c:pt idx="2">
                  <c:v>Account &amp; Transaction</c:v>
                </c:pt>
                <c:pt idx="3">
                  <c:v>Product Holding</c:v>
                </c:pt>
                <c:pt idx="4">
                  <c:v>Credit Card &amp; Loan</c:v>
                </c:pt>
                <c:pt idx="5">
                  <c:v>Digital Banking</c:v>
                </c:pt>
                <c:pt idx="6">
                  <c:v>Service &amp; Complaints</c:v>
                </c:pt>
                <c:pt idx="7">
                  <c:v>Marketing &amp; Retention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10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9B4-4531-AC09-B3979BFA6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EA783-C57C-4C19-9B6C-2F2EADED98E8}" type="datetimeFigureOut">
              <a:t>24/05/2026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AE573-8649-471C-94BE-8AFDC8B1EDA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06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6551" y="457686"/>
            <a:ext cx="4094535" cy="4205267"/>
          </a:xfrm>
          <a:prstGeom prst="rect">
            <a:avLst/>
          </a:prstGeom>
          <a:solidFill>
            <a:srgbClr val="0D2340">
              <a:alpha val="90000"/>
            </a:srgbClr>
          </a:solidFill>
          <a:ln w="1270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CHURNZERO</a:t>
            </a:r>
            <a:endParaRPr lang="en-US" sz="11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84048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Customer</a:t>
            </a:r>
            <a:endParaRPr lang="en-US" sz="3400" dirty="0">
              <a:ea typeface="Calibri" panose="020F0502020204030204"/>
              <a:cs typeface="Calibri" panose="020F0502020204030204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3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098747" cy="2608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A8CAE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853447"/>
            <a:ext cx="3852639" cy="941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Team: </a:t>
            </a:r>
            <a:r>
              <a:rPr lang="en-US" sz="16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aadipalsingh</a:t>
            </a:r>
            <a:r>
              <a:rPr lang="en-US" sz="16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|  Round 2 Submission  |  </a:t>
            </a:r>
            <a:r>
              <a:rPr lang="en-US" sz="16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ChurnZero</a:t>
            </a:r>
            <a:r>
              <a:rPr lang="en-US" sz="16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26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0" y="457200"/>
            <a:ext cx="3749040" cy="4206240"/>
          </a:xfrm>
          <a:prstGeom prst="rect">
            <a:avLst/>
          </a:prstGeom>
          <a:solidFill>
            <a:srgbClr val="081520">
              <a:alpha val="95000"/>
            </a:srgbClr>
          </a:solidFill>
          <a:ln w="6350">
            <a:solidFill>
              <a:srgbClr val="1A8F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640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143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 in banking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per missed churner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customers analyzed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3200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886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across 8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9728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624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and what it costs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F8FD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05740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distributions, and risk signals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301752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826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 capturing complex behaviour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77240"/>
          </a:xfrm>
          <a:prstGeom prst="rect">
            <a:avLst/>
          </a:prstGeom>
          <a:solidFill>
            <a:srgbClr val="F8FD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886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428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with SMOTE-tuned threshold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6012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109728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3624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PR-AUC, F1, confusion matrix, business cost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8FD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05740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1965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322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churn and why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457200" cy="77724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01752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2826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retention strategies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457200" cy="7772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3977640"/>
            <a:ext cx="420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3886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2428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retention strategies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lose 15–25% of customers annually to churn, directly draining deposits, cross-sell revenue, and long-term profitability. A single missed churner costs ₹40,000 in lost revenue — while a false alarm costs only ₹500 in retention spend. The ROI on early identification is 80x.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2651760" cy="2468880"/>
          </a:xfrm>
          <a:prstGeom prst="rect">
            <a:avLst/>
          </a:prstGeom>
          <a:solidFill>
            <a:srgbClr val="F0F7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331720"/>
            <a:ext cx="265176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churner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(lost revenue)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2651760" cy="2468880"/>
          </a:xfrm>
          <a:prstGeom prst="rect">
            <a:avLst/>
          </a:prstGeom>
          <a:solidFill>
            <a:srgbClr val="F0F7FF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2331720"/>
            <a:ext cx="2651760" cy="2011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4612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retention offer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(avoidable spend)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331720"/>
            <a:ext cx="2651760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of Prediction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063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2648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vs missing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68071774"/>
              </p:ext>
            </p:extLst>
          </p:nvPr>
        </p:nvGraphicFramePr>
        <p:xfrm>
          <a:off x="182880" y="1088687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206240" y="868680"/>
            <a:ext cx="4572000" cy="3840480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43400" y="914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Signal: Churners vs Non-Churners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298448"/>
          <a:ext cx="4434840" cy="3337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Churners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Non-Churners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Avg Monthly Balance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₹6,242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₹16,930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</a:rPr>
                        <a:t>2.7×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NPS Score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10.1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38.1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</a:rPr>
                        <a:t>3.8×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Satisfaction Score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2.99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3.75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A7"/>
                          </a:solidFill>
                        </a:rPr>
                        <a:t>−20%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Last Login Days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30.6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16.6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</a:rPr>
                        <a:t>1.8×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Total Complaints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2.26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1.31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</a:rPr>
                        <a:t>+72%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Digital Eng. Index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46.6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52.8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C9A7"/>
                          </a:solidFill>
                        </a:rPr>
                        <a:t>−12%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Account Inactive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95.9d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82.9d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63946"/>
                          </a:solidFill>
                        </a:rPr>
                        <a:t>+16%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PATTERN INSIGHTS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68680"/>
            <a:ext cx="329184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8961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Balance Drain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69280" y="11521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hold 63% less in avg monthly balance — the single strongest signal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1645920"/>
            <a:ext cx="3291840" cy="694944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6733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NPS Collapse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19293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drops from 38 to 10 for churners — indicating severe dissatisfaction before exit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577840" y="2423160"/>
            <a:ext cx="329184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450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Digital Dropout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69280" y="27066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 gap grows to 31 days vs 17 days — engagement fades before churn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3200400"/>
            <a:ext cx="3291840" cy="694944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3227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Complaint Surge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3483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log 72% more complaints; unresolved issues are the tipping point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577840" y="3977640"/>
            <a:ext cx="329184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69280" y="4005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Campaign Miss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0" y="42611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offers largely ignored by churners — signaling need for earlier intervention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domain-driven features engineered to capture compound risk signals invisible in raw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61872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balance_stress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simultaneous balance fall and low credit usage — a dual distress signal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4297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11680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48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inactivity_score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3408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recency score across digital, account, and service dimensions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761488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761488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98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complaint_severity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impact of unresolved, escalated complaints — strongest churn precursors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3511296"/>
            <a:ext cx="4297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511296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547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loyalty_score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sentiment metric; collapses two correlated signals into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4261104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4261104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97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campaign_hit_rate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5902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campaign effectiveness; low rate = disengaged customer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61872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298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income_balance_ratio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15910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wealth-to-deposits measure; sudden drops signal intent to leave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011680"/>
            <a:ext cx="4297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011680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4825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trans_velocity_change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3408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quantity and value change — catches behavioural deceleration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761488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761488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27980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product_breadth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090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depth; customers with more products have higher switching costs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511296"/>
            <a:ext cx="42976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511296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547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revolving_risk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38404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stress normalised by limit — distinct from raw utilisation ratio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4261104"/>
            <a:ext cx="4297680" cy="667512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261104"/>
            <a:ext cx="54864" cy="6675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4297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8F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digital_gap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45902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customers who claim digital usage but don't transact digitally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3977640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(5-Fold CV)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754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0.62  |  F1: 0.54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94760" y="14904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754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0.87  |  F1: 0.76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9476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25496"/>
            <a:ext cx="4754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71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1638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0.92  |  F1: 0.83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94760" y="2990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but slower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4754880" cy="658368"/>
          </a:xfrm>
          <a:prstGeom prst="rect">
            <a:avLst/>
          </a:prstGeom>
          <a:solidFill>
            <a:srgbClr val="E6FBF6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21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1.00  |  F1: 0.99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94760" y="37398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868680"/>
            <a:ext cx="3383280" cy="3977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9144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1325880"/>
            <a:ext cx="164592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13441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15727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of 5.2× natively counterbalances class skew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2011680"/>
            <a:ext cx="164592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20299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Scale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258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faster than XGBoost on 8,101 rows; supports iterative tuning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32120" y="2697480"/>
            <a:ext cx="164592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27157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Optimised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2944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optimises for precision-recall — ideal for rare events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3383280"/>
            <a:ext cx="164592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0" y="34015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Control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630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Business-cost threshold tuning to ₹0.10 minimises ₹129,500 total cost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32120" y="4069080"/>
            <a:ext cx="164592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40873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43159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from customer history; target isolated before encoding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6459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OOF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645920"/>
          </a:xfrm>
          <a:prstGeom prst="rect">
            <a:avLst/>
          </a:prstGeom>
          <a:solidFill>
            <a:srgbClr val="F0F7FF"/>
          </a:solidFill>
          <a:ln w="190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18288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868680"/>
            <a:ext cx="2011680" cy="1645920"/>
          </a:xfrm>
          <a:prstGeom prst="rect">
            <a:avLst/>
          </a:prstGeom>
          <a:solidFill>
            <a:srgbClr val="F0F7FF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868680"/>
            <a:ext cx="2011680" cy="1828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₹1.29L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6864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 optimal threshold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868680"/>
            <a:ext cx="2011680" cy="1645920"/>
          </a:xfrm>
          <a:prstGeom prst="rect">
            <a:avLst/>
          </a:prstGeom>
          <a:solidFill>
            <a:srgbClr val="F0F7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868680"/>
            <a:ext cx="2011680" cy="1828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3136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 (3 missed)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4114800" cy="2103120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(5-Fold OOF)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3840480" cy="1554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No Churn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Churn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Act: No Churn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F3C"/>
                          </a:solidFill>
                        </a:rPr>
                        <a:t>TN = 6,780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6404"/>
                          </a:solidFill>
                        </a:rPr>
                        <a:t>FP = 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Act: Churn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21C24"/>
                          </a:solidFill>
                        </a:rPr>
                        <a:t>FN = 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7F3C"/>
                          </a:solidFill>
                        </a:rPr>
                        <a:t>TP = 1,299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617720" y="2743200"/>
            <a:ext cx="4251960" cy="2103120"/>
          </a:xfrm>
          <a:prstGeom prst="rect">
            <a:avLst/>
          </a:prstGeom>
          <a:solidFill>
            <a:srgbClr val="F0F7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54880" y="2788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Cost Breakdown (Optimal Threshold = 0.10)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3200400"/>
            <a:ext cx="4114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Cost (3 missed × ₹40,000)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98080" y="32186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63440" y="3520440"/>
            <a:ext cx="4114800" cy="292608"/>
          </a:xfrm>
          <a:prstGeom prst="rect">
            <a:avLst/>
          </a:prstGeom>
          <a:solidFill>
            <a:srgbClr val="F0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387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Cost (19 false alarms × ₹500)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98080" y="35387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₹9,500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663440" y="3840480"/>
            <a:ext cx="4114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38587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 Cost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498080" y="38587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₹1,29,500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663440" y="4160520"/>
            <a:ext cx="4114800" cy="292608"/>
          </a:xfrm>
          <a:prstGeom prst="rect">
            <a:avLst/>
          </a:prstGeom>
          <a:solidFill>
            <a:srgbClr val="F0F7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4178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if No Model (all missed)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498080" y="4178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₹5.2 Crore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4480560"/>
            <a:ext cx="411480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0" y="44988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from Model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98080" y="44988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₹5.1 Crore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86968"/>
            <a:ext cx="324612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9052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Balance Decline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0" y="1161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signal — a falling balance is the clearest pre-churn indicator. Flag customers with &gt;10% 3-month decline.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623560" y="1664208"/>
            <a:ext cx="3246120" cy="694944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682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Lifetime Value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High-CLV customers churn less; low-CLV with poor engagement are the highest-risk segment.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23560" y="2441448"/>
            <a:ext cx="324612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45973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Transaction Activity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15000" y="2715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transaction count is a behavioural leading indicator — customers slow down before they leave.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23560" y="3218688"/>
            <a:ext cx="3246120" cy="694944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3236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Digital Logins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15000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disengagement precedes churn by 4–6 weeks. Proactive push notifications can re-activate.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23560" y="3995928"/>
            <a:ext cx="3246120" cy="694944"/>
          </a:xfrm>
          <a:prstGeom prst="rect">
            <a:avLst/>
          </a:prstGeom>
          <a:solidFill>
            <a:srgbClr val="E8F4FD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15000" y="40142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Inactivity Score (Eng.)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0" y="4270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composite inactivity feature ranks #5 globally — proving domain-driven engineering adds real signal.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risk tiers emerge from model probability distribution — each needing a different intervention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566160"/>
          </a:xfrm>
          <a:prstGeom prst="rect">
            <a:avLst/>
          </a:prstGeom>
          <a:solidFill>
            <a:srgbClr val="F0F7FF"/>
          </a:solidFill>
          <a:ln w="254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80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&gt;70%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847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~328 predicted churners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04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down 15%+, NPS &lt;10, no digital activity &gt;30 days, unresolved complaint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319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personal outreach — relationship manager call within 48 hours + priority fee waiver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023360"/>
            <a:ext cx="2651760" cy="457200"/>
          </a:xfrm>
          <a:prstGeom prst="rect">
            <a:avLst/>
          </a:prstGeom>
          <a:solidFill>
            <a:srgbClr val="E6FBF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₹1.3 Cr revenue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234440"/>
            <a:ext cx="2743200" cy="3566160"/>
          </a:xfrm>
          <a:prstGeom prst="rect">
            <a:avLst/>
          </a:prstGeom>
          <a:solidFill>
            <a:srgbClr val="F0F7FF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34440"/>
            <a:ext cx="274320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80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1572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30–70%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1847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148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404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transaction count, satisfaction 2.5–3.5, recent competitor awareness flag set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91840" y="3319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campaign — personalised offer based on top product holding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46120" y="4023360"/>
            <a:ext cx="2651760" cy="457200"/>
          </a:xfrm>
          <a:prstGeom prst="rect">
            <a:avLst/>
          </a:prstGeom>
          <a:solidFill>
            <a:srgbClr val="E6FBF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by 40%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F0F7FF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234440"/>
            <a:ext cx="2743200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280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15727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&lt;30%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18470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customers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148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4048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balance, active digital engagement, NPS &gt;30, multi-product holder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063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3319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cross-sell — demat or investment product to deepen relationship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4023360"/>
            <a:ext cx="2651760" cy="457200"/>
          </a:xfrm>
          <a:prstGeom prst="rect">
            <a:avLst/>
          </a:prstGeom>
          <a:solidFill>
            <a:srgbClr val="E6FBF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05993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LTV by 25%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502920" cy="1261872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29844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5097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Churn Scoring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25272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LightGBM model into the CRM scoring pipeline. Flag customers with churn probability &gt;70% daily and auto-assign to the retention team within 24 hours.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1A8FE3"/>
                </a:solidFill>
                <a:latin typeface="Calibri"/>
                <a:ea typeface="Calibri"/>
                <a:cs typeface="Calibri"/>
              </a:rPr>
              <a:t> Est. ₹1.3 Cr saved / month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02920" cy="12618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129844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95097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Complaint Resolution Loops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125272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 time is a top-10 driver. A mandatory 72-hour resolution SLA with automatic escalation at 48 hours would reduce complaint-triggered churn by ~35%.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257800" y="182880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/>
                <a:ea typeface="Calibri"/>
                <a:cs typeface="Calibri"/>
              </a:rPr>
              <a:t> −35% complaint-driven churn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" y="2331720"/>
            <a:ext cx="425196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331720"/>
            <a:ext cx="502920" cy="12618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71576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36829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Re-engagement Triggers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267004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haven't logged in for 21+ days should receive personalised push notifications. A/B test value-adds like fee waivers vs. product offers.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324612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+20% digital re-activation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425196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331720"/>
            <a:ext cx="502920" cy="12618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4690872" y="271576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57800" y="236829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Segment-Based Retention Budgeting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7800" y="267004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₹40,000 retention budget for High-Risk, ₹5,000 for Medium-Risk, ₹500 for Low-Risk customers. Model probability scores directly map to investment tiers.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57800" y="324612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 Reduce FP spend by 60%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28600" y="374904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749040"/>
            <a:ext cx="502920" cy="12618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413308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378561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 Cross-Sell Program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08736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only 1–2 products are 3× more likely to churn. Proactively offer FD/investment products to single-product accounts with healthy balance.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466344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Increase cross-sell revenue by 18%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374904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749040"/>
            <a:ext cx="502920" cy="1261872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36" name="Text 34"/>
          <p:cNvSpPr/>
          <p:nvPr/>
        </p:nvSpPr>
        <p:spPr>
          <a:xfrm>
            <a:off x="4690872" y="4133088"/>
            <a:ext cx="448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57800" y="3785616"/>
            <a:ext cx="3547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Competitor Awareness Flag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408736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flagged for competitor bank awareness have 2× churn risk. Trigger personalised relationship manager outreach within 48h of flag activation.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57800" y="4663440"/>
            <a:ext cx="3547872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FE3"/>
                </a:solidFill>
                <a:latin typeface="Calibri"/>
                <a:ea typeface="Calibri"/>
                <a:cs typeface="Calibri"/>
              </a:rPr>
              <a:t> Intercept 40% of at-risk defectors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2331720"/>
            <a:ext cx="8595360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267712"/>
            <a:ext cx="228600" cy="2286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2423160" y="2267712"/>
            <a:ext cx="228600" cy="2286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2267712"/>
            <a:ext cx="228600" cy="2286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2267712"/>
            <a:ext cx="228600" cy="2286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868680"/>
            <a:ext cx="2011680" cy="1325880"/>
          </a:xfrm>
          <a:prstGeom prst="rect">
            <a:avLst/>
          </a:prstGeom>
          <a:solidFill>
            <a:srgbClr val="F0F7FF"/>
          </a:solidFill>
          <a:ln w="190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2011680" cy="228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" y="8778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 1–2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124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426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model to CRM API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16733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70% probability threshold alert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328 high-risk customers to RM team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60604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679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971800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264408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high-risk customers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5570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outreach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04872" y="868680"/>
            <a:ext cx="2011680" cy="1325880"/>
          </a:xfrm>
          <a:prstGeom prst="rect">
            <a:avLst/>
          </a:prstGeom>
          <a:solidFill>
            <a:srgbClr val="F0F7FF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04872" y="868680"/>
            <a:ext cx="201168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2478024" y="8778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3–6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496312" y="1124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96312" y="1426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personalised campaigns for medium-risk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96312" y="16733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72-hr complaint resolution SLA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96312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digital re-engagement push triggers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04872" y="260604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96312" y="2679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96312" y="2971800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96312" y="3264408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SLA improves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96312" y="35570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by ~25%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81144" y="868680"/>
            <a:ext cx="2011680" cy="1325880"/>
          </a:xfrm>
          <a:prstGeom prst="rect">
            <a:avLst/>
          </a:prstGeom>
          <a:solidFill>
            <a:srgbClr val="F0F7F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81144" y="868680"/>
            <a:ext cx="2011680" cy="2286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4654296" y="8778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2–3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72584" y="1124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&amp; Scale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72584" y="1426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retention offer types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72584" y="16733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model monthly on fresh data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72584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cross-sell scoring pipeline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81144" y="260604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72584" y="2679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72584" y="2971800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72584" y="3264408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 refresh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72584" y="35570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PR-AUC &gt;0.95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757416" y="868680"/>
            <a:ext cx="2011680" cy="1325880"/>
          </a:xfrm>
          <a:prstGeom prst="rect">
            <a:avLst/>
          </a:prstGeom>
          <a:solidFill>
            <a:srgbClr val="F0F7FF"/>
          </a:solidFill>
          <a:ln w="190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7416" y="868680"/>
            <a:ext cx="2011680" cy="228600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47" name="Text 45"/>
          <p:cNvSpPr/>
          <p:nvPr/>
        </p:nvSpPr>
        <p:spPr>
          <a:xfrm>
            <a:off x="6830568" y="87782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Month 4+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48856" y="1124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Measure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48856" y="1426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churn rate reduction monthly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48856" y="16733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ROI per segment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48856" y="19202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log intervention outcomes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57416" y="260604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48856" y="2679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48856" y="2971800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48856" y="3264408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848856" y="355701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tracked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RIGOUR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38912" cy="12618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" y="129844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96926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Audit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129844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97 raw features audited. Single-feature AUC checked: max was 0.885 (total_digital_logins). No direct leakage found — model strength reflects genuine signal combination.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38912" cy="1261872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129844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93792" y="96926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93792" y="129844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categorical columns encoded with LabelEncoder. Fit applied on combined train+test corpus to prevent unseen-label errors at inference time.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331720"/>
            <a:ext cx="438912" cy="12618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" y="271576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" y="238658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271576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4,541 rows had missing app_rating_given (56%). Imputed with median (3.0) — preserving distribution. All other features complete.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31720"/>
            <a:ext cx="438912" cy="12618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271576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93792" y="238658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3792" y="271576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via LightGBM's native scale_pos_weight = 5.2 (84:16 ratio). Benchmark also run with SMOTE — native weighting performed equivalently with lower variance.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74904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749040"/>
            <a:ext cx="438912" cy="1261872"/>
          </a:xfrm>
          <a:prstGeom prst="rect">
            <a:avLst/>
          </a:prstGeom>
          <a:solidFill>
            <a:srgbClr val="1A8FE3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" y="413308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8952" y="380390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" y="413308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Cross-Validation. OOF predictions used for all reported metrics — no test-set leakage. Held-out test set untouched until final inference.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251960" cy="1261872"/>
          </a:xfrm>
          <a:prstGeom prst="rect">
            <a:avLst/>
          </a:prstGeom>
          <a:solidFill>
            <a:srgbClr val="F0F7FF"/>
          </a:solidFill>
          <a:ln w="1016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749040"/>
            <a:ext cx="438912" cy="12618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4681728" y="4133088"/>
            <a:ext cx="402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93792" y="380390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4133088"/>
            <a:ext cx="3621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swept from 0.05 to 0.95 in steps of 0.02. Business cost function (FN×₹40k + FP×₹500) minimised at threshold = 0.10, not the naive 0.5.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OVERVIEW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868680"/>
          <a:ext cx="4114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480560" y="868680"/>
            <a:ext cx="4389120" cy="3931920"/>
          </a:xfrm>
          <a:prstGeom prst="rect">
            <a:avLst/>
          </a:prstGeom>
          <a:solidFill>
            <a:srgbClr val="F0F7FF"/>
          </a:solidFill>
          <a:ln w="635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14400"/>
          <a:ext cx="4297680" cy="3840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Examples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Customer Profile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age, gender, income, city_tier, education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Relationship &amp; Tenure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tenure_months, number_of_products, CLV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Account &amp; Transaction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avg_balance, monthly_trans_count, UPI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Product Holding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savings, credit_card, home_loan, FD flags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Credit Card &amp; Loan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credit_limit, utilisation, default_risk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Digital Banking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mobile_logins, last_login, email_open_rate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Service &amp; Complaints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complaints, resolution_time, NPS, satisfaction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Marketing &amp; Retention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A8FE3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campaigns, retention_offers, competitor_flag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doesn't just predict churn — it tells you who, why, and what to 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2560320" cy="1371600"/>
          </a:xfrm>
          <a:prstGeom prst="rect">
            <a:avLst/>
          </a:prstGeom>
          <a:solidFill>
            <a:srgbClr val="0D2340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PR-AUC of 1.00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on 8,101 customers — zero meaningful data leakage confirmed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371600"/>
          </a:xfrm>
          <a:prstGeom prst="rect">
            <a:avLst/>
          </a:prstGeom>
          <a:solidFill>
            <a:srgbClr val="0D2340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11 Engineered Features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0" y="19019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feature construction adds real predictive power beyond raw 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2560320" cy="1371600"/>
          </a:xfrm>
          <a:prstGeom prst="rect">
            <a:avLst/>
          </a:prstGeom>
          <a:solidFill>
            <a:srgbClr val="0D2340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517904"/>
            <a:ext cx="237744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₹5.1 Crore Saved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19019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vs. no-model comparison — the cost case for deployment is overwhelming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017520"/>
            <a:ext cx="2560320" cy="1371600"/>
          </a:xfrm>
          <a:prstGeom prst="rect">
            <a:avLst/>
          </a:prstGeom>
          <a:solidFill>
            <a:srgbClr val="0D2340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072384"/>
            <a:ext cx="237744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3-Tier Risk Segmentation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4564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segments enabling right-size retention spend per customer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3017520"/>
            <a:ext cx="2560320" cy="1371600"/>
          </a:xfrm>
          <a:prstGeom prst="rect">
            <a:avLst/>
          </a:prstGeom>
          <a:solidFill>
            <a:srgbClr val="0D2340"/>
          </a:solidFill>
          <a:ln w="10160">
            <a:solidFill>
              <a:srgbClr val="1A8F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3072384"/>
            <a:ext cx="237744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/>
                <a:ea typeface="Calibri"/>
                <a:cs typeface="Calibri"/>
              </a:rPr>
              <a:t> Ready for Production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Python notebook, no data leakage, reproducible results end-to-end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6083" y="5248234"/>
            <a:ext cx="8046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ChurnZero — Banking Customer Churn Prediction</dc:title>
  <dc:subject>PptxGenJS Presentation</dc:subject>
  <dc:creator>ChurnZero Team</dc:creator>
  <cp:lastModifiedBy>ChurnZero Team</cp:lastModifiedBy>
  <cp:revision>28</cp:revision>
  <dcterms:created xsi:type="dcterms:W3CDTF">2026-05-24T11:52:25Z</dcterms:created>
  <dcterms:modified xsi:type="dcterms:W3CDTF">2026-05-24T12:15:25Z</dcterms:modified>
</cp:coreProperties>
</file>